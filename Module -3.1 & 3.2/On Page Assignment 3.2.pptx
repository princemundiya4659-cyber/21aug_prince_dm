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6" r:id="rId13"/>
    <p:sldId id="267" r:id="rId14"/>
    <p:sldId id="268" r:id="rId15"/>
    <p:sldId id="26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F5CBA-AD56-47FE-966C-ABB9B42B1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EED7D-482A-42C5-9F0A-8217CD14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25A28-C904-4EB4-86E8-3499F751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516BB-843B-4F11-A930-CA6F7CC88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5D915-4913-45C4-AD25-448A4C6B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03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FD66-D762-4732-81BA-C7329182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48826-4C15-4CEE-9BB1-42ECBF7B3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B8FBE-A34C-4BEA-8324-E5DAA0F11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73AFD-38FA-43AD-B9C3-434E4969C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C8312-04A5-4308-BB94-A9A202B7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96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1F4C-8A9D-42BC-BDD6-CDCB203DF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A657D2-EBC2-49C3-AA2E-1D9C4B94E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24971-D92C-4D07-9ACB-20796938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3CC87-1762-4E47-B794-20ACCEFD1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C0D6-3A0B-44B3-998A-A2C52A12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0381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6488C-3CB3-4FE9-95E6-C1BCA2AF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03947-2C79-48A3-A3FC-3E0FD598E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AA6959-D667-4525-AC2C-9666AA4E52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0370C-2064-47C4-B2E2-C9A2241D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EDE9D-FC7E-490E-97A2-95369F91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CF1D-4C29-4E83-9B4C-B6CA15A3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51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9D2E0-55C8-4EA5-929B-D06BD257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48E52-483A-47E3-8B49-257C1D0BF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88092-D1D4-4025-8A9A-1BECF5937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C1D08-2602-441C-B956-FF99CB9F6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45F23-F064-4F24-B89E-AEBC296B9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7B5D9-7260-4BE9-9F51-7D1E622A0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4AA321-0BC0-426B-9CA2-6F11C4F7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A76AB-D9CE-4E58-B32E-E4BE0AAF6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86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DD0F-053E-4085-A1C6-F0B02AC9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0F0534-BE2C-4296-BD70-121D9E8CA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53390A-F935-45E4-9293-32C0B685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D3655-6594-486B-8521-75F2F67A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57AD5-C014-4B13-BDA7-537B02CB8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4620D-06FB-477E-9100-63FF2603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86D9C-0B02-4A00-92F6-C2ECE961A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2833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76BB-7898-45F8-A493-7F0EA0DB8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7C2DE-E509-45DE-9103-C65FB6F9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1C582-CEA2-47B4-84D4-4618B7315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739B3-8BB1-446E-82D6-F2E55C5C2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2432-C4D8-47D8-A5D4-1481D9B0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C6259-4426-4B95-ADB7-55FF11E2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99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D7450-30CC-447A-BD11-6E03875B4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B7522C-374B-4068-B2D7-099E69D2C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CA67B-E9E8-4042-8906-B6F1EC878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2B782-5F87-4785-B871-DAA5B95C3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D5054-FD94-44DE-B0F1-C93E3AF4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7C925-AF8C-4B25-A4C7-D87CC35A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92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D0D3-A696-46C5-BC9E-D8392B640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73FC8-F6D5-40FF-B26F-9AB8D1F71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4A367-F208-48AF-A0F6-EC6E45E6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757AB-3294-4EC9-85CE-3254F17E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21130-A05D-4E4B-9D69-DF3DADE6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609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4D0A79-7BE1-4FF7-8ABC-132423E32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ED2E1-80D1-41E1-BC3B-ABEFDB7FD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C1CF4-F79A-46B2-85AA-7E9659D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63F51-2284-44F3-B9A4-851D5335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47684-7C74-4AF8-A419-290395F7F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348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60BBC3-5D4C-417E-9792-ADF5DE9D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EF786-9A71-4402-9445-B54E643A2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CCD46-FB21-42F6-AC41-079FD6524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BB967-326F-4132-8CAD-9987BB7E07A2}" type="datetimeFigureOut">
              <a:rPr lang="en-IN" smtClean="0"/>
              <a:t>04-11-2025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001B2-5CEA-44C1-AB04-9146478FB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5ED23-B8D1-4D9C-9BC5-04E67D233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C263D-7B94-4AD5-9DBF-14BE0E08C3D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489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A5C46E3-9263-4F10-BE66-78336DBA2F5C}"/>
              </a:ext>
            </a:extLst>
          </p:cNvPr>
          <p:cNvSpPr/>
          <p:nvPr/>
        </p:nvSpPr>
        <p:spPr>
          <a:xfrm>
            <a:off x="1234327" y="740708"/>
            <a:ext cx="9391650" cy="5162550"/>
          </a:xfrm>
          <a:prstGeom prst="round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37000">
                <a:schemeClr val="accent1">
                  <a:lumMod val="45000"/>
                  <a:lumOff val="55000"/>
                </a:schemeClr>
              </a:gs>
              <a:gs pos="67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5400000" scaled="1"/>
          </a:gra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52806-9D1D-4DDC-8F1D-4529BA41A197}"/>
              </a:ext>
            </a:extLst>
          </p:cNvPr>
          <p:cNvSpPr txBox="1"/>
          <p:nvPr/>
        </p:nvSpPr>
        <p:spPr>
          <a:xfrm>
            <a:off x="1234327" y="1798489"/>
            <a:ext cx="93916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</a:rPr>
              <a:t>SEO Strategy for </a:t>
            </a:r>
            <a:r>
              <a:rPr lang="en-US" sz="9600" b="1" dirty="0" err="1">
                <a:solidFill>
                  <a:schemeClr val="bg1"/>
                </a:solidFill>
              </a:rPr>
              <a:t>FlinkIt</a:t>
            </a:r>
            <a:endParaRPr lang="en-IN" sz="9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636069-462D-4941-BF24-BC0BED8B4F64}"/>
              </a:ext>
            </a:extLst>
          </p:cNvPr>
          <p:cNvSpPr txBox="1"/>
          <p:nvPr/>
        </p:nvSpPr>
        <p:spPr>
          <a:xfrm>
            <a:off x="6385673" y="5903258"/>
            <a:ext cx="5958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</a:rPr>
              <a:t>- By Prince Mundiya</a:t>
            </a:r>
            <a:endParaRPr lang="en-IN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762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4EA2FA22-1A94-4069-88C8-CDA9577F15FD}"/>
              </a:ext>
            </a:extLst>
          </p:cNvPr>
          <p:cNvSpPr/>
          <p:nvPr/>
        </p:nvSpPr>
        <p:spPr>
          <a:xfrm flipH="1">
            <a:off x="6438099" y="5374236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820045A-0565-46AD-915C-6513A8BA35E7}"/>
              </a:ext>
            </a:extLst>
          </p:cNvPr>
          <p:cNvSpPr/>
          <p:nvPr/>
        </p:nvSpPr>
        <p:spPr>
          <a:xfrm flipH="1">
            <a:off x="6267107" y="953608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6902FB-51EE-4B8C-B8AD-CAA370B5DA3C}"/>
              </a:ext>
            </a:extLst>
          </p:cNvPr>
          <p:cNvSpPr/>
          <p:nvPr/>
        </p:nvSpPr>
        <p:spPr>
          <a:xfrm>
            <a:off x="10350927" y="1929073"/>
            <a:ext cx="68580" cy="18863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76C8951-BF43-487A-A5A8-060E5A268225}"/>
              </a:ext>
            </a:extLst>
          </p:cNvPr>
          <p:cNvSpPr/>
          <p:nvPr/>
        </p:nvSpPr>
        <p:spPr>
          <a:xfrm>
            <a:off x="745880" y="1522530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9A4A8C-95C4-4476-9542-3ED40A33F628}"/>
              </a:ext>
            </a:extLst>
          </p:cNvPr>
          <p:cNvSpPr/>
          <p:nvPr/>
        </p:nvSpPr>
        <p:spPr>
          <a:xfrm>
            <a:off x="4901710" y="407962"/>
            <a:ext cx="2924477" cy="77372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4F227A-4DBE-4F63-861F-2E0AB886AFCC}"/>
              </a:ext>
            </a:extLst>
          </p:cNvPr>
          <p:cNvSpPr txBox="1"/>
          <p:nvPr/>
        </p:nvSpPr>
        <p:spPr>
          <a:xfrm>
            <a:off x="4697073" y="502435"/>
            <a:ext cx="33337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Home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67E677-69C9-4EAD-B7C5-64322BB74FB4}"/>
              </a:ext>
            </a:extLst>
          </p:cNvPr>
          <p:cNvSpPr txBox="1"/>
          <p:nvPr/>
        </p:nvSpPr>
        <p:spPr>
          <a:xfrm>
            <a:off x="664847" y="1560630"/>
            <a:ext cx="1804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Location selection prompt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DBB519-1825-4D46-A2CB-F0166B7612EC}"/>
              </a:ext>
            </a:extLst>
          </p:cNvPr>
          <p:cNvSpPr/>
          <p:nvPr/>
        </p:nvSpPr>
        <p:spPr>
          <a:xfrm>
            <a:off x="2632939" y="1531591"/>
            <a:ext cx="1161443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7ACB8-0F0B-4F57-A72E-956EE89ADC6E}"/>
              </a:ext>
            </a:extLst>
          </p:cNvPr>
          <p:cNvSpPr txBox="1"/>
          <p:nvPr/>
        </p:nvSpPr>
        <p:spPr>
          <a:xfrm>
            <a:off x="2669726" y="1560630"/>
            <a:ext cx="1161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Main search bar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030335-D5BD-4092-84FC-E5258F2C4393}"/>
              </a:ext>
            </a:extLst>
          </p:cNvPr>
          <p:cNvSpPr/>
          <p:nvPr/>
        </p:nvSpPr>
        <p:spPr>
          <a:xfrm>
            <a:off x="3875414" y="1531591"/>
            <a:ext cx="104476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7589BC-2C43-4E7A-99CB-E7AF183CBA3C}"/>
              </a:ext>
            </a:extLst>
          </p:cNvPr>
          <p:cNvSpPr/>
          <p:nvPr/>
        </p:nvSpPr>
        <p:spPr>
          <a:xfrm flipH="1">
            <a:off x="7371486" y="1885533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14AE01-C148-471E-A542-94A3928C373E}"/>
              </a:ext>
            </a:extLst>
          </p:cNvPr>
          <p:cNvSpPr/>
          <p:nvPr/>
        </p:nvSpPr>
        <p:spPr>
          <a:xfrm>
            <a:off x="5005488" y="1522530"/>
            <a:ext cx="141275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3198D-1A57-47C5-9BE6-1C553A452814}"/>
              </a:ext>
            </a:extLst>
          </p:cNvPr>
          <p:cNvSpPr txBox="1"/>
          <p:nvPr/>
        </p:nvSpPr>
        <p:spPr>
          <a:xfrm>
            <a:off x="4009525" y="1645640"/>
            <a:ext cx="699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 Login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09903B-6DC4-4475-A628-43861B554340}"/>
              </a:ext>
            </a:extLst>
          </p:cNvPr>
          <p:cNvSpPr/>
          <p:nvPr/>
        </p:nvSpPr>
        <p:spPr>
          <a:xfrm>
            <a:off x="6503552" y="1520718"/>
            <a:ext cx="1804450" cy="70788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C33B4-C019-4F36-944F-DDB4F2E0FE88}"/>
              </a:ext>
            </a:extLst>
          </p:cNvPr>
          <p:cNvSpPr txBox="1"/>
          <p:nvPr/>
        </p:nvSpPr>
        <p:spPr>
          <a:xfrm>
            <a:off x="5082548" y="1679407"/>
            <a:ext cx="1267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My Cart link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23C7B1-A052-4549-A634-D45BB0990165}"/>
              </a:ext>
            </a:extLst>
          </p:cNvPr>
          <p:cNvSpPr txBox="1"/>
          <p:nvPr/>
        </p:nvSpPr>
        <p:spPr>
          <a:xfrm>
            <a:off x="6427595" y="1593146"/>
            <a:ext cx="1968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Featured Categories &amp; Banners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A475AE-CD99-44CE-82F0-E2F862C007D9}"/>
              </a:ext>
            </a:extLst>
          </p:cNvPr>
          <p:cNvSpPr/>
          <p:nvPr/>
        </p:nvSpPr>
        <p:spPr>
          <a:xfrm>
            <a:off x="8419604" y="1496263"/>
            <a:ext cx="1161443" cy="73234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1978E5-837D-4378-82BE-94ADC0B7E6DD}"/>
              </a:ext>
            </a:extLst>
          </p:cNvPr>
          <p:cNvSpPr txBox="1"/>
          <p:nvPr/>
        </p:nvSpPr>
        <p:spPr>
          <a:xfrm>
            <a:off x="8311047" y="1568321"/>
            <a:ext cx="1424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Download App CTA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15DE62C-CF4F-47A7-8CBE-6C45B1E77DB5}"/>
              </a:ext>
            </a:extLst>
          </p:cNvPr>
          <p:cNvSpPr/>
          <p:nvPr/>
        </p:nvSpPr>
        <p:spPr>
          <a:xfrm>
            <a:off x="9692957" y="1503403"/>
            <a:ext cx="1315943" cy="732341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11C7E-BF2B-46A1-9A6B-9C4802881BF7}"/>
              </a:ext>
            </a:extLst>
          </p:cNvPr>
          <p:cNvSpPr txBox="1"/>
          <p:nvPr/>
        </p:nvSpPr>
        <p:spPr>
          <a:xfrm>
            <a:off x="9665455" y="1688927"/>
            <a:ext cx="14245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Footer links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964623-37E0-4AA1-8DDE-CF3D3397C1BF}"/>
              </a:ext>
            </a:extLst>
          </p:cNvPr>
          <p:cNvSpPr/>
          <p:nvPr/>
        </p:nvSpPr>
        <p:spPr>
          <a:xfrm>
            <a:off x="6549914" y="2732919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EB529B-A9B1-402D-853C-B251D0F35BA6}"/>
              </a:ext>
            </a:extLst>
          </p:cNvPr>
          <p:cNvSpPr txBox="1"/>
          <p:nvPr/>
        </p:nvSpPr>
        <p:spPr>
          <a:xfrm>
            <a:off x="6469260" y="2675769"/>
            <a:ext cx="19265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Major product categories: Groceries, Snacks, 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8434DA-BFA7-40B5-8B34-787B2A189A13}"/>
              </a:ext>
            </a:extLst>
          </p:cNvPr>
          <p:cNvSpPr/>
          <p:nvPr/>
        </p:nvSpPr>
        <p:spPr>
          <a:xfrm>
            <a:off x="4546085" y="2732919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C35361-49FD-4B8E-9A81-19326A5DD4B4}"/>
              </a:ext>
            </a:extLst>
          </p:cNvPr>
          <p:cNvSpPr txBox="1"/>
          <p:nvPr/>
        </p:nvSpPr>
        <p:spPr>
          <a:xfrm>
            <a:off x="4600750" y="2794474"/>
            <a:ext cx="1804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See All Categories option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DFFB98-63F8-4FA1-8214-971F0DF57885}"/>
              </a:ext>
            </a:extLst>
          </p:cNvPr>
          <p:cNvSpPr/>
          <p:nvPr/>
        </p:nvSpPr>
        <p:spPr>
          <a:xfrm>
            <a:off x="2542256" y="2732919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23C6AC-37AD-43CE-8903-947E572C82CC}"/>
              </a:ext>
            </a:extLst>
          </p:cNvPr>
          <p:cNvSpPr txBox="1"/>
          <p:nvPr/>
        </p:nvSpPr>
        <p:spPr>
          <a:xfrm>
            <a:off x="2542255" y="2794474"/>
            <a:ext cx="1804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Recipes / Bistro sections</a:t>
            </a:r>
            <a:endParaRPr lang="en-US" sz="1050" b="1" dirty="0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010EFFD-2FC0-4561-B087-9D7F4F2B1B63}"/>
              </a:ext>
            </a:extLst>
          </p:cNvPr>
          <p:cNvSpPr/>
          <p:nvPr/>
        </p:nvSpPr>
        <p:spPr>
          <a:xfrm>
            <a:off x="6288924" y="3812037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2564CB-DFB7-41E5-9B75-7B9B1D3E7AD9}"/>
              </a:ext>
            </a:extLst>
          </p:cNvPr>
          <p:cNvSpPr txBox="1"/>
          <p:nvPr/>
        </p:nvSpPr>
        <p:spPr>
          <a:xfrm>
            <a:off x="6469793" y="4005764"/>
            <a:ext cx="1804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Privacy Policy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1BB33B3-5840-4A2C-B8F8-E0ACF515261B}"/>
              </a:ext>
            </a:extLst>
          </p:cNvPr>
          <p:cNvSpPr/>
          <p:nvPr/>
        </p:nvSpPr>
        <p:spPr>
          <a:xfrm>
            <a:off x="8214841" y="3802048"/>
            <a:ext cx="1161443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D6C040-994A-4307-9A95-340277663AFA}"/>
              </a:ext>
            </a:extLst>
          </p:cNvPr>
          <p:cNvSpPr txBox="1"/>
          <p:nvPr/>
        </p:nvSpPr>
        <p:spPr>
          <a:xfrm>
            <a:off x="8361628" y="3961694"/>
            <a:ext cx="1161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6DA33B1-7E41-4712-9A70-8B03866275E0}"/>
              </a:ext>
            </a:extLst>
          </p:cNvPr>
          <p:cNvSpPr/>
          <p:nvPr/>
        </p:nvSpPr>
        <p:spPr>
          <a:xfrm>
            <a:off x="9495037" y="3802048"/>
            <a:ext cx="1161443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D908B96-4108-4691-8C8B-FC940DB4ABDC}"/>
              </a:ext>
            </a:extLst>
          </p:cNvPr>
          <p:cNvSpPr/>
          <p:nvPr/>
        </p:nvSpPr>
        <p:spPr>
          <a:xfrm>
            <a:off x="10739411" y="3792987"/>
            <a:ext cx="141275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3A6976-D292-4880-8312-A239E5CB6E2E}"/>
              </a:ext>
            </a:extLst>
          </p:cNvPr>
          <p:cNvSpPr txBox="1"/>
          <p:nvPr/>
        </p:nvSpPr>
        <p:spPr>
          <a:xfrm>
            <a:off x="9710110" y="3977653"/>
            <a:ext cx="699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FAQs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EDC0DE-DB04-4484-BF44-332DF26F17BD}"/>
              </a:ext>
            </a:extLst>
          </p:cNvPr>
          <p:cNvSpPr txBox="1"/>
          <p:nvPr/>
        </p:nvSpPr>
        <p:spPr>
          <a:xfrm>
            <a:off x="11146882" y="3986714"/>
            <a:ext cx="837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Blog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B249890-F9A5-445E-82D3-898913D01A42}"/>
              </a:ext>
            </a:extLst>
          </p:cNvPr>
          <p:cNvSpPr/>
          <p:nvPr/>
        </p:nvSpPr>
        <p:spPr>
          <a:xfrm>
            <a:off x="4375535" y="3771900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9EE57918-D71A-442D-8663-9E9B897D78B4}"/>
              </a:ext>
            </a:extLst>
          </p:cNvPr>
          <p:cNvSpPr/>
          <p:nvPr/>
        </p:nvSpPr>
        <p:spPr>
          <a:xfrm>
            <a:off x="2428856" y="3771900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18A60E-8EED-4B89-9385-B1434C563630}"/>
              </a:ext>
            </a:extLst>
          </p:cNvPr>
          <p:cNvSpPr txBox="1"/>
          <p:nvPr/>
        </p:nvSpPr>
        <p:spPr>
          <a:xfrm>
            <a:off x="2656290" y="3934247"/>
            <a:ext cx="1804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Security Page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A473541-9A30-49AA-B6BE-43C4E5722A84}"/>
              </a:ext>
            </a:extLst>
          </p:cNvPr>
          <p:cNvSpPr/>
          <p:nvPr/>
        </p:nvSpPr>
        <p:spPr>
          <a:xfrm>
            <a:off x="520277" y="3771900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4C9AB2-CBC0-4E62-83A5-A6390272195A}"/>
              </a:ext>
            </a:extLst>
          </p:cNvPr>
          <p:cNvSpPr txBox="1"/>
          <p:nvPr/>
        </p:nvSpPr>
        <p:spPr>
          <a:xfrm>
            <a:off x="482176" y="3833454"/>
            <a:ext cx="1949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Partner / Franchise / Seller / Warehouse /</a:t>
            </a:r>
            <a:endParaRPr lang="en-US" sz="700" b="1" dirty="0">
              <a:solidFill>
                <a:schemeClr val="bg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2BD45A-9299-425E-AA7C-210C1214B11D}"/>
              </a:ext>
            </a:extLst>
          </p:cNvPr>
          <p:cNvSpPr txBox="1"/>
          <p:nvPr/>
        </p:nvSpPr>
        <p:spPr>
          <a:xfrm>
            <a:off x="4379467" y="3934908"/>
            <a:ext cx="194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Terms &amp; Conditions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D1F911-7E7C-431C-BCA0-2AEB5B77CB99}"/>
              </a:ext>
            </a:extLst>
          </p:cNvPr>
          <p:cNvSpPr/>
          <p:nvPr/>
        </p:nvSpPr>
        <p:spPr>
          <a:xfrm>
            <a:off x="4956001" y="4775356"/>
            <a:ext cx="2924477" cy="77372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9CDB9A-89BC-40DB-8578-C44420FA806F}"/>
              </a:ext>
            </a:extLst>
          </p:cNvPr>
          <p:cNvSpPr txBox="1"/>
          <p:nvPr/>
        </p:nvSpPr>
        <p:spPr>
          <a:xfrm>
            <a:off x="4751364" y="4869829"/>
            <a:ext cx="33337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Sub Pages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859FE68-7004-4D26-885B-816857933FDA}"/>
              </a:ext>
            </a:extLst>
          </p:cNvPr>
          <p:cNvSpPr/>
          <p:nvPr/>
        </p:nvSpPr>
        <p:spPr>
          <a:xfrm>
            <a:off x="8274244" y="5889081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AA266BC-08EC-4C74-A47D-BE7D0884B1A3}"/>
              </a:ext>
            </a:extLst>
          </p:cNvPr>
          <p:cNvSpPr txBox="1"/>
          <p:nvPr/>
        </p:nvSpPr>
        <p:spPr>
          <a:xfrm>
            <a:off x="8342578" y="5953005"/>
            <a:ext cx="1804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About Us (via parent site)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05C2A3C-2151-4052-AC0B-591C55C887C3}"/>
              </a:ext>
            </a:extLst>
          </p:cNvPr>
          <p:cNvSpPr/>
          <p:nvPr/>
        </p:nvSpPr>
        <p:spPr>
          <a:xfrm>
            <a:off x="6360855" y="5848944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CEDA207-3CA2-4491-BC51-2D2127F027E4}"/>
              </a:ext>
            </a:extLst>
          </p:cNvPr>
          <p:cNvSpPr/>
          <p:nvPr/>
        </p:nvSpPr>
        <p:spPr>
          <a:xfrm>
            <a:off x="4414176" y="5848944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2D27B6-301C-4ADA-B67E-1DBD16F07425}"/>
              </a:ext>
            </a:extLst>
          </p:cNvPr>
          <p:cNvSpPr txBox="1"/>
          <p:nvPr/>
        </p:nvSpPr>
        <p:spPr>
          <a:xfrm>
            <a:off x="4490916" y="5787386"/>
            <a:ext cx="18044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Security, Contact, Partner, Franchise, Seller registration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8C3C0B3-DEAD-492C-BF88-4A0FCF3926F6}"/>
              </a:ext>
            </a:extLst>
          </p:cNvPr>
          <p:cNvSpPr/>
          <p:nvPr/>
        </p:nvSpPr>
        <p:spPr>
          <a:xfrm>
            <a:off x="2505597" y="5848944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A484A03-5C06-4475-A842-4C6022F16AFD}"/>
              </a:ext>
            </a:extLst>
          </p:cNvPr>
          <p:cNvSpPr txBox="1"/>
          <p:nvPr/>
        </p:nvSpPr>
        <p:spPr>
          <a:xfrm>
            <a:off x="2467496" y="5910498"/>
            <a:ext cx="1949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Blog, Privacy Policy, Terms, FAQs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0929EB-CB3D-45B0-B3EB-7C4FC81C0716}"/>
              </a:ext>
            </a:extLst>
          </p:cNvPr>
          <p:cNvSpPr txBox="1"/>
          <p:nvPr/>
        </p:nvSpPr>
        <p:spPr>
          <a:xfrm>
            <a:off x="6547038" y="6033338"/>
            <a:ext cx="194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Recipes / Bistro</a:t>
            </a:r>
          </a:p>
        </p:txBody>
      </p:sp>
    </p:spTree>
    <p:extLst>
      <p:ext uri="{BB962C8B-B14F-4D97-AF65-F5344CB8AC3E}">
        <p14:creationId xmlns:p14="http://schemas.microsoft.com/office/powerpoint/2010/main" val="3349391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72B4147A-7A6E-4372-961D-5C41B0ADB436}"/>
              </a:ext>
            </a:extLst>
          </p:cNvPr>
          <p:cNvSpPr/>
          <p:nvPr/>
        </p:nvSpPr>
        <p:spPr>
          <a:xfrm flipH="1">
            <a:off x="6037369" y="5281343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79EB224-AAE6-41B1-835B-55354EE88FA4}"/>
              </a:ext>
            </a:extLst>
          </p:cNvPr>
          <p:cNvSpPr/>
          <p:nvPr/>
        </p:nvSpPr>
        <p:spPr>
          <a:xfrm flipH="1">
            <a:off x="5926244" y="3128064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5AF211A-4FD6-494C-876E-CD5D4EC2F1E3}"/>
              </a:ext>
            </a:extLst>
          </p:cNvPr>
          <p:cNvSpPr/>
          <p:nvPr/>
        </p:nvSpPr>
        <p:spPr>
          <a:xfrm flipH="1">
            <a:off x="5960535" y="932149"/>
            <a:ext cx="68581" cy="82629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9A4A8C-95C4-4476-9542-3ED40A33F628}"/>
              </a:ext>
            </a:extLst>
          </p:cNvPr>
          <p:cNvSpPr/>
          <p:nvPr/>
        </p:nvSpPr>
        <p:spPr>
          <a:xfrm>
            <a:off x="4482610" y="460129"/>
            <a:ext cx="2924477" cy="77372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4F227A-4DBE-4F63-861F-2E0AB886AFCC}"/>
              </a:ext>
            </a:extLst>
          </p:cNvPr>
          <p:cNvSpPr txBox="1"/>
          <p:nvPr/>
        </p:nvSpPr>
        <p:spPr>
          <a:xfrm>
            <a:off x="4277973" y="426235"/>
            <a:ext cx="32559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Product &amp; Category Pages</a:t>
            </a:r>
            <a:endParaRPr lang="en-IN" sz="1050" b="1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964623-37E0-4AA1-8DDE-CF3D3397C1BF}"/>
              </a:ext>
            </a:extLst>
          </p:cNvPr>
          <p:cNvSpPr/>
          <p:nvPr/>
        </p:nvSpPr>
        <p:spPr>
          <a:xfrm>
            <a:off x="6951690" y="1532365"/>
            <a:ext cx="419519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EB529B-A9B1-402D-853C-B251D0F35BA6}"/>
              </a:ext>
            </a:extLst>
          </p:cNvPr>
          <p:cNvSpPr txBox="1"/>
          <p:nvPr/>
        </p:nvSpPr>
        <p:spPr>
          <a:xfrm>
            <a:off x="7137738" y="1532366"/>
            <a:ext cx="3868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Product Detail Pages with description, price, and images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88434DA-BFA7-40B5-8B34-787B2A189A13}"/>
              </a:ext>
            </a:extLst>
          </p:cNvPr>
          <p:cNvSpPr/>
          <p:nvPr/>
        </p:nvSpPr>
        <p:spPr>
          <a:xfrm>
            <a:off x="4947862" y="1532366"/>
            <a:ext cx="1804450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C35361-49FD-4B8E-9A81-19326A5DD4B4}"/>
              </a:ext>
            </a:extLst>
          </p:cNvPr>
          <p:cNvSpPr txBox="1"/>
          <p:nvPr/>
        </p:nvSpPr>
        <p:spPr>
          <a:xfrm>
            <a:off x="5003710" y="1593921"/>
            <a:ext cx="17486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Cart and Checkout flow</a:t>
            </a:r>
            <a:endParaRPr lang="en-US" sz="700" b="1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ADFFB98-63F8-4FA1-8214-971F0DF57885}"/>
              </a:ext>
            </a:extLst>
          </p:cNvPr>
          <p:cNvSpPr/>
          <p:nvPr/>
        </p:nvSpPr>
        <p:spPr>
          <a:xfrm>
            <a:off x="723900" y="1532366"/>
            <a:ext cx="4024583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23C6AC-37AD-43CE-8903-947E572C82CC}"/>
              </a:ext>
            </a:extLst>
          </p:cNvPr>
          <p:cNvSpPr txBox="1"/>
          <p:nvPr/>
        </p:nvSpPr>
        <p:spPr>
          <a:xfrm>
            <a:off x="1046827" y="1704308"/>
            <a:ext cx="3562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Category Listing Pages with filters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3B98FA6-3393-439D-B199-7DA38A60CA47}"/>
              </a:ext>
            </a:extLst>
          </p:cNvPr>
          <p:cNvSpPr/>
          <p:nvPr/>
        </p:nvSpPr>
        <p:spPr>
          <a:xfrm>
            <a:off x="4498297" y="2610835"/>
            <a:ext cx="2924477" cy="77372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063C41-FEB2-4706-B141-F21C3EF37832}"/>
              </a:ext>
            </a:extLst>
          </p:cNvPr>
          <p:cNvSpPr txBox="1"/>
          <p:nvPr/>
        </p:nvSpPr>
        <p:spPr>
          <a:xfrm>
            <a:off x="4293660" y="2748391"/>
            <a:ext cx="3333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User Account / Login</a:t>
            </a:r>
            <a:endParaRPr lang="en-IN" sz="400" b="1" dirty="0">
              <a:solidFill>
                <a:schemeClr val="bg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2C2733B1-039B-47A6-9EA3-08000201A57E}"/>
              </a:ext>
            </a:extLst>
          </p:cNvPr>
          <p:cNvSpPr/>
          <p:nvPr/>
        </p:nvSpPr>
        <p:spPr>
          <a:xfrm>
            <a:off x="6967377" y="3683072"/>
            <a:ext cx="419519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A1C8D1-9860-4534-A8BB-153CD4C04F2B}"/>
              </a:ext>
            </a:extLst>
          </p:cNvPr>
          <p:cNvSpPr txBox="1"/>
          <p:nvPr/>
        </p:nvSpPr>
        <p:spPr>
          <a:xfrm>
            <a:off x="7153425" y="3740222"/>
            <a:ext cx="3868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Orders, Addresses, Payment Methods, Support, Settings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837AD11-AFD8-487A-B2BC-613258F4CAD0}"/>
              </a:ext>
            </a:extLst>
          </p:cNvPr>
          <p:cNvSpPr/>
          <p:nvPr/>
        </p:nvSpPr>
        <p:spPr>
          <a:xfrm>
            <a:off x="4963549" y="3683072"/>
            <a:ext cx="1760808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9FCA19A-F65C-4C3F-9752-6B0E6BF62AEC}"/>
              </a:ext>
            </a:extLst>
          </p:cNvPr>
          <p:cNvSpPr txBox="1"/>
          <p:nvPr/>
        </p:nvSpPr>
        <p:spPr>
          <a:xfrm>
            <a:off x="5018214" y="3744627"/>
            <a:ext cx="1760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</a:rPr>
              <a:t>Login / Sign‑in page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DE546A1-4692-4766-96F9-F9BD10CAA33A}"/>
              </a:ext>
            </a:extLst>
          </p:cNvPr>
          <p:cNvSpPr/>
          <p:nvPr/>
        </p:nvSpPr>
        <p:spPr>
          <a:xfrm>
            <a:off x="739587" y="3683072"/>
            <a:ext cx="4024583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74A864-B655-4F2E-ABAA-68229FEF3C6F}"/>
              </a:ext>
            </a:extLst>
          </p:cNvPr>
          <p:cNvSpPr txBox="1"/>
          <p:nvPr/>
        </p:nvSpPr>
        <p:spPr>
          <a:xfrm>
            <a:off x="1328598" y="3852348"/>
            <a:ext cx="356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User Dashboard / Profile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6B4CD13-FAE1-4F41-B166-F5F797C5F897}"/>
              </a:ext>
            </a:extLst>
          </p:cNvPr>
          <p:cNvSpPr/>
          <p:nvPr/>
        </p:nvSpPr>
        <p:spPr>
          <a:xfrm>
            <a:off x="4609422" y="4713135"/>
            <a:ext cx="2924477" cy="773723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E099E09-E3A3-4242-9AE6-73E77536BA5C}"/>
              </a:ext>
            </a:extLst>
          </p:cNvPr>
          <p:cNvSpPr txBox="1"/>
          <p:nvPr/>
        </p:nvSpPr>
        <p:spPr>
          <a:xfrm>
            <a:off x="4404785" y="4864758"/>
            <a:ext cx="3333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Support &amp; Contact</a:t>
            </a:r>
            <a:endParaRPr lang="en-IN" sz="100" b="1" dirty="0">
              <a:solidFill>
                <a:schemeClr val="bg1"/>
              </a:solidFill>
            </a:endParaRP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05B3AA63-5A7B-449F-BB71-B7CF0BBD6598}"/>
              </a:ext>
            </a:extLst>
          </p:cNvPr>
          <p:cNvSpPr/>
          <p:nvPr/>
        </p:nvSpPr>
        <p:spPr>
          <a:xfrm>
            <a:off x="7078502" y="5799439"/>
            <a:ext cx="4195191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192EE3-CDCA-4853-8273-319F8248C4A5}"/>
              </a:ext>
            </a:extLst>
          </p:cNvPr>
          <p:cNvSpPr txBox="1"/>
          <p:nvPr/>
        </p:nvSpPr>
        <p:spPr>
          <a:xfrm>
            <a:off x="7241910" y="5978313"/>
            <a:ext cx="3868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Help Centre / My Orders tracking</a:t>
            </a: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079179A9-FE3F-412F-A251-01F4C926DC1E}"/>
              </a:ext>
            </a:extLst>
          </p:cNvPr>
          <p:cNvSpPr/>
          <p:nvPr/>
        </p:nvSpPr>
        <p:spPr>
          <a:xfrm>
            <a:off x="4274574" y="5780389"/>
            <a:ext cx="1025752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286B0D-6EB1-41FA-A085-54CF4D688FC7}"/>
              </a:ext>
            </a:extLst>
          </p:cNvPr>
          <p:cNvSpPr txBox="1"/>
          <p:nvPr/>
        </p:nvSpPr>
        <p:spPr>
          <a:xfrm>
            <a:off x="4465732" y="5917251"/>
            <a:ext cx="734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FAQs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AF603BC3-D6B6-413A-A98E-7C9072DC1FCE}"/>
              </a:ext>
            </a:extLst>
          </p:cNvPr>
          <p:cNvSpPr/>
          <p:nvPr/>
        </p:nvSpPr>
        <p:spPr>
          <a:xfrm>
            <a:off x="854002" y="5799439"/>
            <a:ext cx="3264088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A8C460-3990-4D78-A4FD-055D764BDE9E}"/>
              </a:ext>
            </a:extLst>
          </p:cNvPr>
          <p:cNvSpPr txBox="1"/>
          <p:nvPr/>
        </p:nvSpPr>
        <p:spPr>
          <a:xfrm>
            <a:off x="957437" y="5979699"/>
            <a:ext cx="3157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Contact Page (Email, Phone, Chat)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150F13FD-3E52-46FE-BE30-DA5BB5B4F297}"/>
              </a:ext>
            </a:extLst>
          </p:cNvPr>
          <p:cNvSpPr/>
          <p:nvPr/>
        </p:nvSpPr>
        <p:spPr>
          <a:xfrm>
            <a:off x="5456337" y="5780389"/>
            <a:ext cx="1511039" cy="70788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1A7A07-760E-44E9-BAF7-F5C844B1CBB8}"/>
              </a:ext>
            </a:extLst>
          </p:cNvPr>
          <p:cNvSpPr txBox="1"/>
          <p:nvPr/>
        </p:nvSpPr>
        <p:spPr>
          <a:xfrm>
            <a:off x="5546039" y="5946308"/>
            <a:ext cx="1405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Security Page</a:t>
            </a:r>
          </a:p>
        </p:txBody>
      </p:sp>
    </p:spTree>
    <p:extLst>
      <p:ext uri="{BB962C8B-B14F-4D97-AF65-F5344CB8AC3E}">
        <p14:creationId xmlns:p14="http://schemas.microsoft.com/office/powerpoint/2010/main" val="90421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4263061" y="312357"/>
            <a:ext cx="36658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</a:rPr>
              <a:t>BLOGE PAGE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814F43-C0A8-42AA-AD0E-E238E44CD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58" y="1466849"/>
            <a:ext cx="3448531" cy="5086741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FB1D9F-B260-44B5-91BC-8EA7E5513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280" y="1458901"/>
            <a:ext cx="7906362" cy="5086742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602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1" y="312357"/>
            <a:ext cx="4299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chemeClr val="bg1"/>
                </a:solidFill>
              </a:rPr>
              <a:t>PRODUCT PAGE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D8950-FB3D-4C0F-967C-E118C1321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" y="1409700"/>
            <a:ext cx="11506200" cy="5263411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281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0" y="373913"/>
            <a:ext cx="4299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CATEGORIES PAGE</a:t>
            </a:r>
            <a:endParaRPr lang="en-IN" sz="16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2E3AA0-138A-4C33-8CD6-21BA9B860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" y="1454691"/>
            <a:ext cx="11620499" cy="5128066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235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C50534-6388-4276-AB13-4D9CCEF00A69}"/>
              </a:ext>
            </a:extLst>
          </p:cNvPr>
          <p:cNvSpPr/>
          <p:nvPr/>
        </p:nvSpPr>
        <p:spPr>
          <a:xfrm>
            <a:off x="116058" y="2265415"/>
            <a:ext cx="6664569" cy="45492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E783BF-677A-40EC-BD87-07628BE3D40D}"/>
              </a:ext>
            </a:extLst>
          </p:cNvPr>
          <p:cNvSpPr/>
          <p:nvPr/>
        </p:nvSpPr>
        <p:spPr>
          <a:xfrm>
            <a:off x="6971200" y="2234559"/>
            <a:ext cx="5104742" cy="4528889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0" y="373913"/>
            <a:ext cx="4299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Content Structure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4962A-C4C3-4664-A198-17732CD98AC5}"/>
              </a:ext>
            </a:extLst>
          </p:cNvPr>
          <p:cNvSpPr txBox="1"/>
          <p:nvPr/>
        </p:nvSpPr>
        <p:spPr>
          <a:xfrm>
            <a:off x="306631" y="1478854"/>
            <a:ext cx="6664569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Hero Title + Intro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Featured Blogs (Top 3 posts)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Categories (Groceries, Recipes, Lifestyle, Health)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Recent Posts List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Subscribe CTA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Footer Links</a:t>
            </a:r>
            <a:endParaRPr lang="en-IN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3B92C-3EA1-4127-80D6-61764DB21FC0}"/>
              </a:ext>
            </a:extLst>
          </p:cNvPr>
          <p:cNvSpPr txBox="1"/>
          <p:nvPr/>
        </p:nvSpPr>
        <p:spPr>
          <a:xfrm>
            <a:off x="6985268" y="1936533"/>
            <a:ext cx="6972300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Product Title + Price + Delivery Time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Images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Highlights / Benefits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Description + Nutrition Info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Customer Reviews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Related Products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Add to Cart / Buy Now CTA</a:t>
            </a:r>
            <a:endParaRPr lang="en-IN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DE53-DBB7-41A6-9C18-FFB2ED7A0710}"/>
              </a:ext>
            </a:extLst>
          </p:cNvPr>
          <p:cNvSpPr/>
          <p:nvPr/>
        </p:nvSpPr>
        <p:spPr>
          <a:xfrm>
            <a:off x="479181" y="1227454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8AB6A-0982-4475-B2E3-B23839090E7E}"/>
              </a:ext>
            </a:extLst>
          </p:cNvPr>
          <p:cNvSpPr txBox="1"/>
          <p:nvPr/>
        </p:nvSpPr>
        <p:spPr>
          <a:xfrm>
            <a:off x="1090246" y="1302632"/>
            <a:ext cx="1844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Blog 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5D7C0-345C-4815-8792-9F5C0194565B}"/>
              </a:ext>
            </a:extLst>
          </p:cNvPr>
          <p:cNvSpPr/>
          <p:nvPr/>
        </p:nvSpPr>
        <p:spPr>
          <a:xfrm>
            <a:off x="8645769" y="1239773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17A4C-EB22-4494-A299-4BC47112E577}"/>
              </a:ext>
            </a:extLst>
          </p:cNvPr>
          <p:cNvSpPr txBox="1"/>
          <p:nvPr/>
        </p:nvSpPr>
        <p:spPr>
          <a:xfrm>
            <a:off x="8951301" y="1314951"/>
            <a:ext cx="245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Product Page</a:t>
            </a:r>
          </a:p>
        </p:txBody>
      </p:sp>
    </p:spTree>
    <p:extLst>
      <p:ext uri="{BB962C8B-B14F-4D97-AF65-F5344CB8AC3E}">
        <p14:creationId xmlns:p14="http://schemas.microsoft.com/office/powerpoint/2010/main" val="3561321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C0AA41-63C2-4CA4-ADFA-6FAE88A3C017}"/>
              </a:ext>
            </a:extLst>
          </p:cNvPr>
          <p:cNvCxnSpPr>
            <a:endCxn id="7" idx="1"/>
          </p:cNvCxnSpPr>
          <p:nvPr/>
        </p:nvCxnSpPr>
        <p:spPr>
          <a:xfrm flipV="1">
            <a:off x="1336431" y="1724168"/>
            <a:ext cx="3226044" cy="5412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F559CC-D946-4E3C-AAC7-F3C5060F797E}"/>
              </a:ext>
            </a:extLst>
          </p:cNvPr>
          <p:cNvCxnSpPr>
            <a:cxnSpLocks/>
          </p:cNvCxnSpPr>
          <p:nvPr/>
        </p:nvCxnSpPr>
        <p:spPr>
          <a:xfrm>
            <a:off x="7629525" y="1689873"/>
            <a:ext cx="3226044" cy="54124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0B2D99-C88C-4A97-A782-574396E805B8}"/>
              </a:ext>
            </a:extLst>
          </p:cNvPr>
          <p:cNvSpPr/>
          <p:nvPr/>
        </p:nvSpPr>
        <p:spPr>
          <a:xfrm>
            <a:off x="479181" y="2265415"/>
            <a:ext cx="11233638" cy="45492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0" y="373913"/>
            <a:ext cx="4299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Content Structure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4962A-C4C3-4664-A198-17732CD98AC5}"/>
              </a:ext>
            </a:extLst>
          </p:cNvPr>
          <p:cNvSpPr txBox="1"/>
          <p:nvPr/>
        </p:nvSpPr>
        <p:spPr>
          <a:xfrm>
            <a:off x="4080511" y="2103267"/>
            <a:ext cx="666456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Category Title + Short Intro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Filters &amp; Sorting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Product Grid (image, price, add to cart)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Promo Banner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Info Section (about category)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Shop Now CTA</a:t>
            </a:r>
            <a:endParaRPr lang="en-IN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DE53-DBB7-41A6-9C18-FFB2ED7A0710}"/>
              </a:ext>
            </a:extLst>
          </p:cNvPr>
          <p:cNvSpPr/>
          <p:nvPr/>
        </p:nvSpPr>
        <p:spPr>
          <a:xfrm>
            <a:off x="4562475" y="1356601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8AB6A-0982-4475-B2E3-B23839090E7E}"/>
              </a:ext>
            </a:extLst>
          </p:cNvPr>
          <p:cNvSpPr txBox="1"/>
          <p:nvPr/>
        </p:nvSpPr>
        <p:spPr>
          <a:xfrm>
            <a:off x="4773491" y="1431779"/>
            <a:ext cx="2856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Category Page</a:t>
            </a:r>
          </a:p>
        </p:txBody>
      </p:sp>
    </p:spTree>
    <p:extLst>
      <p:ext uri="{BB962C8B-B14F-4D97-AF65-F5344CB8AC3E}">
        <p14:creationId xmlns:p14="http://schemas.microsoft.com/office/powerpoint/2010/main" val="119273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7C3CA6-A739-4563-A837-47BD9F1A6ED9}"/>
              </a:ext>
            </a:extLst>
          </p:cNvPr>
          <p:cNvSpPr/>
          <p:nvPr/>
        </p:nvSpPr>
        <p:spPr>
          <a:xfrm>
            <a:off x="479181" y="2072273"/>
            <a:ext cx="11233638" cy="45492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546231" y="236512"/>
            <a:ext cx="4699489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546232" y="373913"/>
            <a:ext cx="469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Competitive Analysis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E0A2F-9AF4-4F2E-B329-F2A93E8E972C}"/>
              </a:ext>
            </a:extLst>
          </p:cNvPr>
          <p:cNvSpPr txBox="1"/>
          <p:nvPr/>
        </p:nvSpPr>
        <p:spPr>
          <a:xfrm>
            <a:off x="999979" y="2209674"/>
            <a:ext cx="4699488" cy="4161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2">
                    <a:lumMod val="50000"/>
                  </a:schemeClr>
                </a:solidFill>
              </a:rPr>
              <a:t>Swiggy</a:t>
            </a:r>
            <a:r>
              <a:rPr lang="en-IN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IN" sz="3600" b="1" dirty="0" err="1">
                <a:solidFill>
                  <a:schemeClr val="tx2">
                    <a:lumMod val="50000"/>
                  </a:schemeClr>
                </a:solidFill>
              </a:rPr>
              <a:t>Instamart</a:t>
            </a:r>
            <a:r>
              <a:rPr lang="en-IN" sz="36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 err="1">
                <a:solidFill>
                  <a:schemeClr val="tx2">
                    <a:lumMod val="50000"/>
                  </a:schemeClr>
                </a:solidFill>
              </a:rPr>
              <a:t>Zepto</a:t>
            </a:r>
            <a:endParaRPr lang="en-IN" sz="3600" b="1" dirty="0">
              <a:solidFill>
                <a:schemeClr val="tx2">
                  <a:lumMod val="50000"/>
                </a:schemeClr>
              </a:solidFill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tx2">
                    <a:lumMod val="50000"/>
                  </a:schemeClr>
                </a:solidFill>
              </a:rPr>
              <a:t>Big Basket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tx2">
                    <a:lumMod val="50000"/>
                  </a:schemeClr>
                </a:solidFill>
              </a:rPr>
              <a:t>Amazon Fresh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tx2">
                    <a:lumMod val="50000"/>
                  </a:schemeClr>
                </a:solidFill>
              </a:rPr>
              <a:t>Flipkart Super Mart</a:t>
            </a:r>
            <a:endParaRPr lang="en-IN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3D603F-7FAA-48E2-AD18-C8283E1FA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432" y="3021822"/>
            <a:ext cx="4135975" cy="29288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7C8FC8-AA16-4C34-B5DE-05A0FEA24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219" y="3655785"/>
            <a:ext cx="2286000" cy="18097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3EE863-3460-4713-983B-CAA80B2FE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9203" y="3608160"/>
            <a:ext cx="1905000" cy="1905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DC559BD-1290-4D84-99E9-093D754055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315" y="4017828"/>
            <a:ext cx="4008706" cy="409899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E44D1BE-5BA8-4912-8A18-050931B598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681" y="806390"/>
            <a:ext cx="4135975" cy="42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1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C50534-6388-4276-AB13-4D9CCEF00A69}"/>
              </a:ext>
            </a:extLst>
          </p:cNvPr>
          <p:cNvSpPr/>
          <p:nvPr/>
        </p:nvSpPr>
        <p:spPr>
          <a:xfrm>
            <a:off x="116058" y="2265415"/>
            <a:ext cx="5496951" cy="45492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E783BF-677A-40EC-BD87-07628BE3D40D}"/>
              </a:ext>
            </a:extLst>
          </p:cNvPr>
          <p:cNvSpPr/>
          <p:nvPr/>
        </p:nvSpPr>
        <p:spPr>
          <a:xfrm>
            <a:off x="6578991" y="2234559"/>
            <a:ext cx="5496951" cy="4528889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0" y="373913"/>
            <a:ext cx="4299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Content Structure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DE53-DBB7-41A6-9C18-FFB2ED7A0710}"/>
              </a:ext>
            </a:extLst>
          </p:cNvPr>
          <p:cNvSpPr/>
          <p:nvPr/>
        </p:nvSpPr>
        <p:spPr>
          <a:xfrm>
            <a:off x="479181" y="1227454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8AB6A-0982-4475-B2E3-B23839090E7E}"/>
              </a:ext>
            </a:extLst>
          </p:cNvPr>
          <p:cNvSpPr txBox="1"/>
          <p:nvPr/>
        </p:nvSpPr>
        <p:spPr>
          <a:xfrm>
            <a:off x="1090246" y="1302632"/>
            <a:ext cx="1844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Blog Page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C5D7C0-345C-4815-8792-9F5C0194565B}"/>
              </a:ext>
            </a:extLst>
          </p:cNvPr>
          <p:cNvSpPr/>
          <p:nvPr/>
        </p:nvSpPr>
        <p:spPr>
          <a:xfrm>
            <a:off x="8645769" y="1239773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717A4C-EB22-4494-A299-4BC47112E577}"/>
              </a:ext>
            </a:extLst>
          </p:cNvPr>
          <p:cNvSpPr txBox="1"/>
          <p:nvPr/>
        </p:nvSpPr>
        <p:spPr>
          <a:xfrm>
            <a:off x="8951301" y="1314951"/>
            <a:ext cx="2455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Product 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93E4A3-DCA1-4795-BBF7-0AD2F4507754}"/>
              </a:ext>
            </a:extLst>
          </p:cNvPr>
          <p:cNvSpPr txBox="1"/>
          <p:nvPr/>
        </p:nvSpPr>
        <p:spPr>
          <a:xfrm>
            <a:off x="313665" y="2606177"/>
            <a:ext cx="477590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Blinkit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blog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Grocery delivery tips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Quick recipes with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Blinkit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Healthy grocery ideas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Instant grocery delivery guide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Online shopping hacks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Blinkit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Daily essentials blog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Time-saving grocery shopping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Food and lifestyle tips</a:t>
            </a:r>
            <a:endParaRPr lang="en-IN" sz="105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FCC04-DAB4-4DB6-904E-5FC83596718C}"/>
              </a:ext>
            </a:extLst>
          </p:cNvPr>
          <p:cNvSpPr txBox="1"/>
          <p:nvPr/>
        </p:nvSpPr>
        <p:spPr>
          <a:xfrm>
            <a:off x="6952957" y="2606177"/>
            <a:ext cx="42635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Buy milk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Fresh milk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Amul milk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Mother Dairy milk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Toned milk 1L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Dairy products near 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Blinkit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milk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Order milk now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Milk for tea and coffee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10-minute milk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281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0B2D99-C88C-4A97-A782-574396E805B8}"/>
              </a:ext>
            </a:extLst>
          </p:cNvPr>
          <p:cNvSpPr/>
          <p:nvPr/>
        </p:nvSpPr>
        <p:spPr>
          <a:xfrm>
            <a:off x="3573194" y="2265415"/>
            <a:ext cx="5627078" cy="4549215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946280" y="236512"/>
            <a:ext cx="4299440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946280" y="373913"/>
            <a:ext cx="42994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Content Structure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20DE53-DBB7-41A6-9C18-FFB2ED7A0710}"/>
              </a:ext>
            </a:extLst>
          </p:cNvPr>
          <p:cNvSpPr/>
          <p:nvPr/>
        </p:nvSpPr>
        <p:spPr>
          <a:xfrm>
            <a:off x="4562475" y="1356601"/>
            <a:ext cx="3067050" cy="735133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58AB6A-0982-4475-B2E3-B23839090E7E}"/>
              </a:ext>
            </a:extLst>
          </p:cNvPr>
          <p:cNvSpPr txBox="1"/>
          <p:nvPr/>
        </p:nvSpPr>
        <p:spPr>
          <a:xfrm>
            <a:off x="4773491" y="1431779"/>
            <a:ext cx="28560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Category Page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D2017-762D-46A0-B9FA-BD9B3792C5CA}"/>
              </a:ext>
            </a:extLst>
          </p:cNvPr>
          <p:cNvSpPr txBox="1"/>
          <p:nvPr/>
        </p:nvSpPr>
        <p:spPr>
          <a:xfrm>
            <a:off x="4562475" y="2624628"/>
            <a:ext cx="42635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Milk and dairy products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Buy dairy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Fresh milk near 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Best milk brands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Online grocery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Instant dairy delivery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Organic milk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Blinkit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groceries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Buy milk packets online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Daily essentials delivery</a:t>
            </a:r>
          </a:p>
        </p:txBody>
      </p:sp>
    </p:spTree>
    <p:extLst>
      <p:ext uri="{BB962C8B-B14F-4D97-AF65-F5344CB8AC3E}">
        <p14:creationId xmlns:p14="http://schemas.microsoft.com/office/powerpoint/2010/main" val="3077071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590C9D-9ACA-470F-815E-5A38E0860BB0}"/>
              </a:ext>
            </a:extLst>
          </p:cNvPr>
          <p:cNvSpPr/>
          <p:nvPr/>
        </p:nvSpPr>
        <p:spPr>
          <a:xfrm>
            <a:off x="2096086" y="1442469"/>
            <a:ext cx="7849772" cy="5179019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546231" y="123971"/>
            <a:ext cx="4699489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546232" y="236512"/>
            <a:ext cx="469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On-page Elements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BA6C-D04B-4B2E-9701-727A6C663A8B}"/>
              </a:ext>
            </a:extLst>
          </p:cNvPr>
          <p:cNvSpPr txBox="1"/>
          <p:nvPr/>
        </p:nvSpPr>
        <p:spPr>
          <a:xfrm>
            <a:off x="4551485" y="1523599"/>
            <a:ext cx="469948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1. Title Tag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2. Meta Description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3. URL Structure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4. H1 Tag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5. Image Alt Tags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6. Internal Linking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7. Content Optimization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8. Schema Markup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9. Mobile Optimization</a:t>
            </a:r>
          </a:p>
          <a:p>
            <a:r>
              <a:rPr lang="en-IN" sz="3200" b="1" dirty="0">
                <a:solidFill>
                  <a:schemeClr val="tx2">
                    <a:lumMod val="50000"/>
                  </a:schemeClr>
                </a:solidFill>
              </a:rPr>
              <a:t>10. CTA (Call to Action)</a:t>
            </a:r>
            <a:endParaRPr lang="en-IN" sz="12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84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A162D8-AB5C-4877-9491-CEE137B21B77}"/>
              </a:ext>
            </a:extLst>
          </p:cNvPr>
          <p:cNvSpPr/>
          <p:nvPr/>
        </p:nvSpPr>
        <p:spPr>
          <a:xfrm>
            <a:off x="669679" y="1391129"/>
            <a:ext cx="10852641" cy="982688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546231" y="236512"/>
            <a:ext cx="4699489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546232" y="373913"/>
            <a:ext cx="469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Example Blog 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BBA6C-D04B-4B2E-9701-727A6C663A8B}"/>
              </a:ext>
            </a:extLst>
          </p:cNvPr>
          <p:cNvSpPr txBox="1"/>
          <p:nvPr/>
        </p:nvSpPr>
        <p:spPr>
          <a:xfrm>
            <a:off x="669680" y="1528530"/>
            <a:ext cx="11293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Healthy Breakfast Ideas – Quick &amp; Easy with </a:t>
            </a:r>
            <a:r>
              <a:rPr lang="en-US" sz="4000" b="1" u="sng" dirty="0" err="1">
                <a:solidFill>
                  <a:schemeClr val="bg1"/>
                </a:solidFill>
              </a:rPr>
              <a:t>Flinkit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D4780-57AF-48AD-A5F6-1C7BBD1A399A}"/>
              </a:ext>
            </a:extLst>
          </p:cNvPr>
          <p:cNvSpPr txBox="1"/>
          <p:nvPr/>
        </p:nvSpPr>
        <p:spPr>
          <a:xfrm>
            <a:off x="669679" y="2602896"/>
            <a:ext cx="1129371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Starting your day with a healthy breakfast is essential for energy, focus, and overall well-being. </a:t>
            </a:r>
            <a:r>
              <a:rPr lang="en-US" sz="2400" b="1" dirty="0" err="1"/>
              <a:t>Flinkit</a:t>
            </a:r>
            <a:r>
              <a:rPr lang="en-US" sz="2400" b="1" dirty="0"/>
              <a:t> makes it easy to prepare nutritious meals at home by delivering fresh groceries straight to your doorstep in minutes. With </a:t>
            </a:r>
            <a:r>
              <a:rPr lang="en-US" sz="2400" b="1" dirty="0" err="1"/>
              <a:t>Flinkit’s</a:t>
            </a:r>
            <a:r>
              <a:rPr lang="en-US" sz="2400" b="1" dirty="0"/>
              <a:t> wide range of products, you can whip up quick breakfast recipes like fruit smoothies, oats porridge, or a wholesome egg sandwich without worrying about running to the store.</a:t>
            </a:r>
          </a:p>
          <a:p>
            <a:endParaRPr lang="en-US" sz="2400" b="1" dirty="0"/>
          </a:p>
          <a:p>
            <a:r>
              <a:rPr lang="en-US" sz="2400" b="1" dirty="0"/>
              <a:t>For a wholesome morning, try using fresh fruits, milk, oats, and eggs from </a:t>
            </a:r>
            <a:r>
              <a:rPr lang="en-US" sz="2400" b="1" dirty="0" err="1"/>
              <a:t>Flinkit</a:t>
            </a:r>
            <a:r>
              <a:rPr lang="en-US" sz="2400" b="1" dirty="0"/>
              <a:t>. A banana-oat smoothie with honey and almond milk is not only delicious but also packed with vitamins and protein. Similarly, a quick vegetable omelet or poha with fresh vegetables can be prepared in less than 15 minutes, giving you a balanced start to the day.</a:t>
            </a:r>
            <a:endParaRPr lang="en-IN" sz="105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85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546231" y="236512"/>
            <a:ext cx="4699489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546232" y="373913"/>
            <a:ext cx="469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Example Blog 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D4780-57AF-48AD-A5F6-1C7BBD1A399A}"/>
              </a:ext>
            </a:extLst>
          </p:cNvPr>
          <p:cNvSpPr txBox="1"/>
          <p:nvPr/>
        </p:nvSpPr>
        <p:spPr>
          <a:xfrm>
            <a:off x="669679" y="3024928"/>
            <a:ext cx="1129371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Flinkit’s</a:t>
            </a:r>
            <a:r>
              <a:rPr lang="en-US" sz="2400" b="1" dirty="0"/>
              <a:t> instant delivery ensures you never run out of essentials. Whether it’s bread, eggs, milk, or seasonal fruits, </a:t>
            </a:r>
            <a:r>
              <a:rPr lang="en-US" sz="2400" b="1" dirty="0" err="1"/>
              <a:t>Flinkit</a:t>
            </a:r>
            <a:r>
              <a:rPr lang="en-US" sz="2400" b="1" dirty="0"/>
              <a:t> has all your breakfast needs covered. Plus, their app provides easy browsing, quick checkout, and real-time delivery tracking, making your morning routine stress-free.</a:t>
            </a:r>
          </a:p>
          <a:p>
            <a:endParaRPr lang="en-US" sz="2400" b="1" dirty="0"/>
          </a:p>
          <a:p>
            <a:r>
              <a:rPr lang="en-US" sz="2400" b="1" dirty="0"/>
              <a:t>By exploring </a:t>
            </a:r>
            <a:r>
              <a:rPr lang="en-US" sz="2400" b="1" dirty="0" err="1"/>
              <a:t>Flinkit’s</a:t>
            </a:r>
            <a:r>
              <a:rPr lang="en-US" sz="2400" b="1" dirty="0"/>
              <a:t> blog, you can discover more quick and healthy breakfast ideas, tips for meal prep, and insights on selecting the best groceries online. Start your mornings right with </a:t>
            </a:r>
            <a:r>
              <a:rPr lang="en-US" sz="2400" b="1" dirty="0" err="1"/>
              <a:t>Flinkit</a:t>
            </a:r>
            <a:r>
              <a:rPr lang="en-US" sz="2400" b="1" dirty="0"/>
              <a:t>, save time, and enjoy nutritious meals with your family.</a:t>
            </a:r>
            <a:endParaRPr lang="en-IN" sz="105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0104C-2BA3-4F3E-8282-FA4B7CA0B143}"/>
              </a:ext>
            </a:extLst>
          </p:cNvPr>
          <p:cNvSpPr/>
          <p:nvPr/>
        </p:nvSpPr>
        <p:spPr>
          <a:xfrm>
            <a:off x="669679" y="1391129"/>
            <a:ext cx="10852641" cy="982688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876F4-A743-4B33-ACD2-CA4A2843E183}"/>
              </a:ext>
            </a:extLst>
          </p:cNvPr>
          <p:cNvSpPr txBox="1"/>
          <p:nvPr/>
        </p:nvSpPr>
        <p:spPr>
          <a:xfrm>
            <a:off x="669680" y="1528530"/>
            <a:ext cx="112937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chemeClr val="bg1"/>
                </a:solidFill>
              </a:rPr>
              <a:t>Healthy Breakfast Ideas – Quick &amp; Easy with </a:t>
            </a:r>
            <a:r>
              <a:rPr lang="en-US" sz="4000" b="1" u="sng" dirty="0" err="1">
                <a:solidFill>
                  <a:schemeClr val="bg1"/>
                </a:solidFill>
              </a:rPr>
              <a:t>Flinkit</a:t>
            </a:r>
            <a:endParaRPr lang="en-IN" sz="16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28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3546231" y="236512"/>
            <a:ext cx="4699489" cy="98268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3546232" y="373913"/>
            <a:ext cx="4699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chemeClr val="bg1"/>
                </a:solidFill>
              </a:rPr>
              <a:t>On-Page Elements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C5053B-020A-445F-8B04-9F3263DE0BB1}"/>
              </a:ext>
            </a:extLst>
          </p:cNvPr>
          <p:cNvSpPr/>
          <p:nvPr/>
        </p:nvSpPr>
        <p:spPr>
          <a:xfrm>
            <a:off x="617804" y="1732185"/>
            <a:ext cx="2688102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1EC2A6-6AE3-49E8-8402-4757D35672E8}"/>
              </a:ext>
            </a:extLst>
          </p:cNvPr>
          <p:cNvSpPr txBox="1"/>
          <p:nvPr/>
        </p:nvSpPr>
        <p:spPr>
          <a:xfrm>
            <a:off x="997632" y="1799341"/>
            <a:ext cx="213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Title Tag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4DFD49-3E2E-4982-9C88-096ECE3ADC61}"/>
              </a:ext>
            </a:extLst>
          </p:cNvPr>
          <p:cNvSpPr/>
          <p:nvPr/>
        </p:nvSpPr>
        <p:spPr>
          <a:xfrm>
            <a:off x="1687533" y="3131922"/>
            <a:ext cx="3897337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D8A085-8241-4A6C-B2D6-6B7073DA8558}"/>
              </a:ext>
            </a:extLst>
          </p:cNvPr>
          <p:cNvSpPr txBox="1"/>
          <p:nvPr/>
        </p:nvSpPr>
        <p:spPr>
          <a:xfrm>
            <a:off x="1687533" y="3199078"/>
            <a:ext cx="4080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Meta Description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FB675E-66D7-4237-8A62-64768AE8415D}"/>
              </a:ext>
            </a:extLst>
          </p:cNvPr>
          <p:cNvSpPr/>
          <p:nvPr/>
        </p:nvSpPr>
        <p:spPr>
          <a:xfrm>
            <a:off x="717449" y="4641853"/>
            <a:ext cx="2688102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F0E68C-9E73-4DBE-9AF3-415A623F6E0C}"/>
              </a:ext>
            </a:extLst>
          </p:cNvPr>
          <p:cNvSpPr txBox="1"/>
          <p:nvPr/>
        </p:nvSpPr>
        <p:spPr>
          <a:xfrm>
            <a:off x="1097277" y="4709009"/>
            <a:ext cx="21394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H1 Tag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F52631-07F3-4D59-90F6-61C178078B01}"/>
              </a:ext>
            </a:extLst>
          </p:cNvPr>
          <p:cNvSpPr/>
          <p:nvPr/>
        </p:nvSpPr>
        <p:spPr>
          <a:xfrm>
            <a:off x="8854439" y="1665028"/>
            <a:ext cx="2688102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9CE708-6D11-47AA-A307-39F1E00FBBFD}"/>
              </a:ext>
            </a:extLst>
          </p:cNvPr>
          <p:cNvSpPr txBox="1"/>
          <p:nvPr/>
        </p:nvSpPr>
        <p:spPr>
          <a:xfrm>
            <a:off x="9017389" y="1732184"/>
            <a:ext cx="23844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Keywords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6F5F62-F87D-440F-935B-064BFEB19041}"/>
              </a:ext>
            </a:extLst>
          </p:cNvPr>
          <p:cNvSpPr/>
          <p:nvPr/>
        </p:nvSpPr>
        <p:spPr>
          <a:xfrm>
            <a:off x="6428640" y="3149507"/>
            <a:ext cx="3897337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E1D62-4943-40FA-90FE-DB0A40853FC3}"/>
              </a:ext>
            </a:extLst>
          </p:cNvPr>
          <p:cNvSpPr txBox="1"/>
          <p:nvPr/>
        </p:nvSpPr>
        <p:spPr>
          <a:xfrm>
            <a:off x="6527697" y="3216663"/>
            <a:ext cx="3362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Image Alt Tags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CECDCD-23CE-4DF6-9A59-56CDFB4DD420}"/>
              </a:ext>
            </a:extLst>
          </p:cNvPr>
          <p:cNvSpPr/>
          <p:nvPr/>
        </p:nvSpPr>
        <p:spPr>
          <a:xfrm>
            <a:off x="8879056" y="4574696"/>
            <a:ext cx="2688102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D9DB35-3C56-41CE-A9F1-0D8C46506DD5}"/>
              </a:ext>
            </a:extLst>
          </p:cNvPr>
          <p:cNvSpPr txBox="1"/>
          <p:nvPr/>
        </p:nvSpPr>
        <p:spPr>
          <a:xfrm>
            <a:off x="9713226" y="4641852"/>
            <a:ext cx="1038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CTA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8FE4BF-6C84-40DB-9869-7CAB75E95A6E}"/>
              </a:ext>
            </a:extLst>
          </p:cNvPr>
          <p:cNvSpPr/>
          <p:nvPr/>
        </p:nvSpPr>
        <p:spPr>
          <a:xfrm>
            <a:off x="4302293" y="5638076"/>
            <a:ext cx="3897337" cy="842199"/>
          </a:xfrm>
          <a:prstGeom prst="rect">
            <a:avLst/>
          </a:prstGeom>
          <a:solidFill>
            <a:srgbClr val="00B0F0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03A868-4CD1-4A66-933D-15C0433F6320}"/>
              </a:ext>
            </a:extLst>
          </p:cNvPr>
          <p:cNvSpPr txBox="1"/>
          <p:nvPr/>
        </p:nvSpPr>
        <p:spPr>
          <a:xfrm>
            <a:off x="4742569" y="5717786"/>
            <a:ext cx="3362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Internal Links</a:t>
            </a:r>
          </a:p>
        </p:txBody>
      </p:sp>
    </p:spTree>
    <p:extLst>
      <p:ext uri="{BB962C8B-B14F-4D97-AF65-F5344CB8AC3E}">
        <p14:creationId xmlns:p14="http://schemas.microsoft.com/office/powerpoint/2010/main" val="3118039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1276A80-2E79-445A-905A-E5796100B237}"/>
              </a:ext>
            </a:extLst>
          </p:cNvPr>
          <p:cNvSpPr/>
          <p:nvPr/>
        </p:nvSpPr>
        <p:spPr>
          <a:xfrm>
            <a:off x="2655423" y="1853418"/>
            <a:ext cx="7459248" cy="3604846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37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5400000" scaled="1"/>
          </a:gradFill>
          <a:ln w="57150">
            <a:noFill/>
          </a:ln>
          <a:effectLst>
            <a:innerShdw blurRad="114300">
              <a:prstClr val="black"/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87D1B4-42DD-4975-83CF-65D2F054C2EA}"/>
              </a:ext>
            </a:extLst>
          </p:cNvPr>
          <p:cNvSpPr txBox="1"/>
          <p:nvPr/>
        </p:nvSpPr>
        <p:spPr>
          <a:xfrm>
            <a:off x="4035303" y="2353931"/>
            <a:ext cx="469948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solidFill>
                  <a:schemeClr val="bg1"/>
                </a:solidFill>
              </a:rPr>
              <a:t>THANK YOU</a:t>
            </a:r>
            <a:endParaRPr lang="en-IN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55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709</Words>
  <Application>Microsoft Office PowerPoint</Application>
  <PresentationFormat>Widescreen</PresentationFormat>
  <Paragraphs>144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Prince Mundiya</dc:creator>
  <cp:lastModifiedBy>Prince Mundiya</cp:lastModifiedBy>
  <cp:revision>9</cp:revision>
  <dcterms:created xsi:type="dcterms:W3CDTF">2025-11-03T20:23:09Z</dcterms:created>
  <dcterms:modified xsi:type="dcterms:W3CDTF">2025-11-04T19:33:37Z</dcterms:modified>
</cp:coreProperties>
</file>